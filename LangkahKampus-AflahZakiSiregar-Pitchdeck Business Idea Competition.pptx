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64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642F01-214A-0214-7C68-A241A4C48BAC}" v="70" dt="2025-07-18T12:59:50.2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69" d="100"/>
          <a:sy n="69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AC9385A8-E026-D40D-15AA-8C8A72F8DAE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0"/>
          </a:blip>
          <a:srcRect t="21538"/>
          <a:stretch>
            <a:fillRect/>
          </a:stretch>
        </p:blipFill>
        <p:spPr>
          <a:xfrm>
            <a:off x="3344530" y="2886794"/>
            <a:ext cx="5502939" cy="234885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E4057"/>
                </a:solidFill>
              </a:defRPr>
            </a:pPr>
            <a:r>
              <a:t>LangkahKampus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631" y="1538592"/>
            <a:ext cx="1019969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55555"/>
                </a:solidFill>
              </a:defRPr>
            </a:pPr>
            <a:r>
              <a:rPr lang="en-ID" sz="3000" dirty="0" err="1"/>
              <a:t>Asisten</a:t>
            </a:r>
            <a:r>
              <a:rPr lang="en-ID" sz="3000" dirty="0"/>
              <a:t> Cerdas </a:t>
            </a:r>
            <a:r>
              <a:rPr lang="en-ID" sz="3000" dirty="0" err="1"/>
              <a:t>Pengatur</a:t>
            </a:r>
            <a:r>
              <a:rPr lang="en-ID" sz="3000" dirty="0"/>
              <a:t> Strategi Lolos SNBP </a:t>
            </a:r>
            <a:r>
              <a:rPr lang="en-ID" sz="3000" dirty="0" err="1"/>
              <a:t>Tanpa</a:t>
            </a:r>
            <a:r>
              <a:rPr lang="en-ID" sz="3000" dirty="0"/>
              <a:t> </a:t>
            </a:r>
            <a:r>
              <a:rPr lang="en-ID" sz="3000" dirty="0" err="1"/>
              <a:t>Jebakan</a:t>
            </a:r>
            <a:endParaRPr sz="300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</a:defRPr>
            </a:pPr>
            <a:r>
              <a:rPr lang="en-US" dirty="0"/>
              <a:t>Dev </a:t>
            </a:r>
            <a:r>
              <a:rPr dirty="0" err="1"/>
              <a:t>LangkahKampus</a:t>
            </a:r>
            <a:r>
              <a:rPr lang="en-US" dirty="0"/>
              <a:t> – Aflah Zaki Siregar</a:t>
            </a:r>
            <a:r>
              <a:rPr dirty="0"/>
              <a:t> | Telkom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77777"/>
                </a:solidFill>
              </a:defRPr>
            </a:pPr>
            <a:r>
              <a:rPr dirty="0"/>
              <a:t>Business Idea Competition - </a:t>
            </a:r>
            <a:r>
              <a:rPr lang="en-ID" dirty="0"/>
              <a:t>Bandung</a:t>
            </a:r>
            <a:r>
              <a:rPr dirty="0"/>
              <a:t> Techno Park 202</a:t>
            </a:r>
            <a:r>
              <a:rPr lang="en-US" dirty="0"/>
              <a:t>6</a:t>
            </a:r>
            <a:endParaRPr dirty="0"/>
          </a:p>
        </p:txBody>
      </p:sp>
      <p:pic>
        <p:nvPicPr>
          <p:cNvPr id="7" name="Picture 6" descr="Picture">
            <a:extLst>
              <a:ext uri="{FF2B5EF4-FFF2-40B4-BE49-F238E27FC236}">
                <a16:creationId xmlns:a16="http://schemas.microsoft.com/office/drawing/2014/main" id="{AE7C4190-1566-5979-BB6E-DDD49F86A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867" y="218122"/>
            <a:ext cx="1571626" cy="110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F42F62DF-29B4-881C-81E8-07C67A6C6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643" y="365760"/>
            <a:ext cx="809625" cy="80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595A4B5-7E79-9BA5-568A-0BBB6BF0D426}"/>
              </a:ext>
            </a:extLst>
          </p:cNvPr>
          <p:cNvSpPr txBox="1"/>
          <p:nvPr/>
        </p:nvSpPr>
        <p:spPr>
          <a:xfrm>
            <a:off x="2775064" y="2090147"/>
            <a:ext cx="66418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</a:defRPr>
            </a:pPr>
            <a:r>
              <a:rPr lang="en-ID" dirty="0"/>
              <a:t>“Platform </a:t>
            </a:r>
            <a:r>
              <a:rPr lang="en-ID" dirty="0" err="1"/>
              <a:t>Penasihat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AI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Maksimalkan</a:t>
            </a:r>
            <a:r>
              <a:rPr lang="en-ID" dirty="0"/>
              <a:t> Nilai </a:t>
            </a:r>
            <a:r>
              <a:rPr lang="en-ID" dirty="0" err="1"/>
              <a:t>Rapor</a:t>
            </a:r>
            <a:r>
              <a:rPr lang="en-ID" dirty="0"/>
              <a:t> dan </a:t>
            </a:r>
            <a:r>
              <a:rPr lang="en-ID" dirty="0" err="1"/>
              <a:t>Amankan</a:t>
            </a:r>
            <a:r>
              <a:rPr lang="en-ID" dirty="0"/>
              <a:t> </a:t>
            </a:r>
            <a:r>
              <a:rPr lang="en-ID" dirty="0" err="1"/>
              <a:t>Pilihan</a:t>
            </a:r>
            <a:r>
              <a:rPr lang="en-ID" dirty="0"/>
              <a:t> </a:t>
            </a:r>
            <a:r>
              <a:rPr lang="en-ID" dirty="0" err="1"/>
              <a:t>Kuliahmu</a:t>
            </a:r>
            <a:r>
              <a:rPr lang="en-ID" dirty="0"/>
              <a:t>”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568F6-B2EE-7040-445A-B0793460E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4057"/>
                </a:solidFill>
              </a:defRPr>
            </a:pPr>
            <a:r>
              <a:t>Masalah yang Diangkat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392B"/>
                </a:solidFill>
              </a:defRPr>
            </a:pPr>
            <a:r>
              <a:rPr u="sng" dirty="0"/>
              <a:t>800K </a:t>
            </a:r>
            <a:r>
              <a:rPr u="sng" dirty="0" err="1"/>
              <a:t>pendaftar</a:t>
            </a:r>
            <a:r>
              <a:rPr u="sng" dirty="0"/>
              <a:t> SNBP/</a:t>
            </a:r>
            <a:r>
              <a:rPr u="sng" dirty="0" err="1"/>
              <a:t>tahun</a:t>
            </a:r>
            <a:r>
              <a:rPr u="sng" dirty="0"/>
              <a:t>, </a:t>
            </a:r>
            <a:r>
              <a:rPr u="sng" dirty="0" err="1"/>
              <a:t>hanya</a:t>
            </a:r>
            <a:r>
              <a:rPr u="sng" dirty="0"/>
              <a:t> 27% </a:t>
            </a:r>
            <a:r>
              <a:rPr u="sng" dirty="0" err="1"/>
              <a:t>diterima</a:t>
            </a:r>
            <a:endParaRPr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515600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000" b="0">
                <a:solidFill>
                  <a:srgbClr val="333333"/>
                </a:solidFill>
              </a:defRPr>
            </a:pPr>
            <a:r>
              <a:rPr dirty="0"/>
              <a:t>Choice-2 Trap: Universitas top </a:t>
            </a:r>
            <a:r>
              <a:rPr dirty="0" err="1"/>
              <a:t>menolak</a:t>
            </a:r>
            <a:r>
              <a:rPr dirty="0"/>
              <a:t> </a:t>
            </a:r>
            <a:r>
              <a:rPr dirty="0" err="1"/>
              <a:t>otomatis</a:t>
            </a:r>
            <a:r>
              <a:rPr dirty="0"/>
              <a:t> </a:t>
            </a:r>
            <a:r>
              <a:rPr dirty="0" err="1"/>
              <a:t>siswa</a:t>
            </a:r>
            <a:r>
              <a:rPr dirty="0"/>
              <a:t> yang </a:t>
            </a:r>
            <a:r>
              <a:rPr dirty="0" err="1"/>
              <a:t>menempatkan</a:t>
            </a:r>
            <a:r>
              <a:rPr dirty="0"/>
              <a:t> </a:t>
            </a:r>
            <a:r>
              <a:rPr dirty="0" err="1"/>
              <a:t>mereka</a:t>
            </a:r>
            <a:r>
              <a:rPr dirty="0"/>
              <a:t> </a:t>
            </a:r>
            <a:r>
              <a:rPr dirty="0" err="1"/>
              <a:t>sebagai</a:t>
            </a:r>
            <a:r>
              <a:rPr dirty="0"/>
              <a:t> </a:t>
            </a:r>
            <a:r>
              <a:rPr dirty="0" err="1"/>
              <a:t>pilihan</a:t>
            </a:r>
            <a:r>
              <a:rPr dirty="0"/>
              <a:t> </a:t>
            </a:r>
            <a:r>
              <a:rPr dirty="0" err="1"/>
              <a:t>kedua</a:t>
            </a:r>
            <a:endParaRPr dirty="0"/>
          </a:p>
          <a:p>
            <a:pPr algn="just"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rPr dirty="0"/>
              <a:t>Data Asymmetry: </a:t>
            </a:r>
            <a:r>
              <a:rPr dirty="0" err="1"/>
              <a:t>Siswa</a:t>
            </a:r>
            <a:r>
              <a:rPr dirty="0"/>
              <a:t>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memiliki</a:t>
            </a:r>
            <a:r>
              <a:rPr dirty="0"/>
              <a:t> </a:t>
            </a:r>
            <a:r>
              <a:rPr dirty="0" err="1"/>
              <a:t>akses</a:t>
            </a:r>
            <a:r>
              <a:rPr dirty="0"/>
              <a:t> data </a:t>
            </a:r>
            <a:r>
              <a:rPr dirty="0" err="1"/>
              <a:t>historis</a:t>
            </a:r>
            <a:r>
              <a:rPr dirty="0"/>
              <a:t> acceptance rate dan </a:t>
            </a:r>
            <a:r>
              <a:rPr dirty="0" err="1"/>
              <a:t>informasi</a:t>
            </a:r>
            <a:r>
              <a:rPr dirty="0"/>
              <a:t> </a:t>
            </a:r>
            <a:r>
              <a:rPr dirty="0" err="1"/>
              <a:t>kuota</a:t>
            </a:r>
            <a:r>
              <a:rPr dirty="0"/>
              <a:t> per program </a:t>
            </a:r>
            <a:r>
              <a:rPr dirty="0" err="1"/>
              <a:t>studi</a:t>
            </a:r>
            <a:endParaRPr dirty="0"/>
          </a:p>
          <a:p>
            <a:pPr algn="just"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rPr dirty="0"/>
              <a:t>Guru BK Overloaded: </a:t>
            </a:r>
            <a:r>
              <a:rPr dirty="0" err="1"/>
              <a:t>Rasio</a:t>
            </a:r>
            <a:r>
              <a:rPr dirty="0"/>
              <a:t> 1:300-500 </a:t>
            </a:r>
            <a:r>
              <a:rPr dirty="0" err="1"/>
              <a:t>siswa</a:t>
            </a:r>
            <a:r>
              <a:rPr dirty="0"/>
              <a:t> </a:t>
            </a:r>
            <a:r>
              <a:rPr dirty="0" err="1"/>
              <a:t>tanpa</a:t>
            </a:r>
            <a:r>
              <a:rPr dirty="0"/>
              <a:t> analytical tools (70%+ </a:t>
            </a:r>
            <a:r>
              <a:rPr dirty="0" err="1"/>
              <a:t>tanpa</a:t>
            </a:r>
            <a:r>
              <a:rPr dirty="0"/>
              <a:t> digital tools)</a:t>
            </a:r>
          </a:p>
          <a:p>
            <a:pPr algn="just"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rPr dirty="0"/>
              <a:t>Intra-School Collision: </a:t>
            </a:r>
            <a:r>
              <a:rPr dirty="0" err="1"/>
              <a:t>Siswa</a:t>
            </a:r>
            <a:r>
              <a:rPr dirty="0"/>
              <a:t> </a:t>
            </a:r>
            <a:r>
              <a:rPr dirty="0" err="1"/>
              <a:t>satu</a:t>
            </a:r>
            <a:r>
              <a:rPr dirty="0"/>
              <a:t> </a:t>
            </a:r>
            <a:r>
              <a:rPr dirty="0" err="1"/>
              <a:t>sekolah</a:t>
            </a:r>
            <a:r>
              <a:rPr dirty="0"/>
              <a:t> </a:t>
            </a:r>
            <a:r>
              <a:rPr dirty="0" err="1"/>
              <a:t>saling</a:t>
            </a:r>
            <a:r>
              <a:rPr dirty="0"/>
              <a:t> </a:t>
            </a:r>
            <a:r>
              <a:rPr dirty="0" err="1"/>
              <a:t>berkompetisi</a:t>
            </a:r>
            <a:r>
              <a:rPr dirty="0"/>
              <a:t> </a:t>
            </a:r>
            <a:r>
              <a:rPr dirty="0" err="1"/>
              <a:t>tanpa</a:t>
            </a:r>
            <a:r>
              <a:rPr dirty="0"/>
              <a:t> </a:t>
            </a:r>
            <a:r>
              <a:rPr dirty="0" err="1"/>
              <a:t>sadar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slot universitas yang </a:t>
            </a:r>
            <a:r>
              <a:rPr dirty="0" err="1"/>
              <a:t>sama</a:t>
            </a:r>
            <a:endParaRPr dirty="0"/>
          </a:p>
        </p:txBody>
      </p:sp>
      <p:pic>
        <p:nvPicPr>
          <p:cNvPr id="5" name="Picture 6" descr="Picture">
            <a:extLst>
              <a:ext uri="{FF2B5EF4-FFF2-40B4-BE49-F238E27FC236}">
                <a16:creationId xmlns:a16="http://schemas.microsoft.com/office/drawing/2014/main" id="{9BFC55E8-7CD9-01A6-0F1B-DE7D482A9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867" y="218122"/>
            <a:ext cx="1571626" cy="110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ECFCD54D-9B57-831E-8362-57087DF44F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20000"/>
          </a:blip>
          <a:srcRect l="12603" t="24686" r="64487" b="27720"/>
          <a:stretch>
            <a:fillRect/>
          </a:stretch>
        </p:blipFill>
        <p:spPr>
          <a:xfrm>
            <a:off x="4909474" y="2011680"/>
            <a:ext cx="2373051" cy="26817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0AB254-AAA6-BB97-BAE2-A52BB6BEE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643" y="365760"/>
            <a:ext cx="809625" cy="80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5585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C5F51-BE38-A500-7707-AA4300202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4057"/>
                </a:solidFill>
              </a:defRPr>
            </a:pPr>
            <a:r>
              <a:t>Solusi: LangkahKampus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515600" cy="3626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73E8"/>
                </a:solidFill>
              </a:defRPr>
            </a:pPr>
            <a:r>
              <a:rPr dirty="0"/>
              <a:t>5 Pilar Solusi:</a:t>
            </a:r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rPr dirty="0"/>
              <a:t>1. Hard-Rule Validator: </a:t>
            </a:r>
            <a:r>
              <a:rPr dirty="0" err="1"/>
              <a:t>Deteksi</a:t>
            </a:r>
            <a:r>
              <a:rPr dirty="0"/>
              <a:t> </a:t>
            </a:r>
            <a:r>
              <a:rPr dirty="0" err="1"/>
              <a:t>otomatis</a:t>
            </a:r>
            <a:r>
              <a:rPr dirty="0"/>
              <a:t> </a:t>
            </a:r>
            <a:r>
              <a:rPr dirty="0" err="1"/>
              <a:t>batasan</a:t>
            </a:r>
            <a:r>
              <a:rPr dirty="0"/>
              <a:t> Choice-2 universitas</a:t>
            </a:r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rPr dirty="0"/>
              <a:t>2. AI Probability Scoring: Ensemble </a:t>
            </a:r>
            <a:r>
              <a:rPr dirty="0" err="1"/>
              <a:t>XGBoost</a:t>
            </a:r>
            <a:r>
              <a:rPr dirty="0"/>
              <a:t> + </a:t>
            </a:r>
            <a:r>
              <a:rPr dirty="0" err="1"/>
              <a:t>LightGBM</a:t>
            </a:r>
            <a:r>
              <a:rPr dirty="0"/>
              <a:t> (AUC 0.91)</a:t>
            </a:r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rPr dirty="0"/>
              <a:t>3. What-If Engine: Counterfactual recommendations (</a:t>
            </a:r>
            <a:r>
              <a:rPr dirty="0" err="1"/>
              <a:t>DiCE</a:t>
            </a:r>
            <a:r>
              <a:rPr dirty="0"/>
              <a:t> + SHAP)</a:t>
            </a:r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rPr dirty="0"/>
              <a:t>4. Geospatial Profiling: Filter </a:t>
            </a:r>
            <a:r>
              <a:rPr dirty="0" err="1"/>
              <a:t>berdasarkan</a:t>
            </a:r>
            <a:r>
              <a:rPr dirty="0"/>
              <a:t> </a:t>
            </a:r>
            <a:r>
              <a:rPr dirty="0" err="1"/>
              <a:t>lokasi</a:t>
            </a:r>
            <a:r>
              <a:rPr dirty="0"/>
              <a:t> dan </a:t>
            </a:r>
            <a:r>
              <a:rPr dirty="0" err="1"/>
              <a:t>minat</a:t>
            </a:r>
            <a:endParaRPr dirty="0"/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rPr dirty="0"/>
              <a:t>5. Anti-</a:t>
            </a:r>
            <a:r>
              <a:rPr dirty="0" err="1"/>
              <a:t>Bentrok</a:t>
            </a:r>
            <a:r>
              <a:rPr dirty="0"/>
              <a:t> Dashboard: De-confliction real-time </a:t>
            </a:r>
            <a:r>
              <a:rPr dirty="0" err="1"/>
              <a:t>untuk</a:t>
            </a:r>
            <a:r>
              <a:rPr dirty="0"/>
              <a:t> Guru BK</a:t>
            </a:r>
          </a:p>
          <a:p>
            <a:pPr>
              <a:spcBef>
                <a:spcPts val="2000"/>
              </a:spcBef>
              <a:defRPr sz="1000" b="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800"/>
              </a:spcBef>
              <a:defRPr sz="1800" b="1">
                <a:solidFill>
                  <a:srgbClr val="1A73E8"/>
                </a:solidFill>
              </a:defRPr>
            </a:pPr>
            <a:r>
              <a:rPr u="sng" dirty="0"/>
              <a:t>Dari data </a:t>
            </a:r>
            <a:r>
              <a:rPr u="sng" dirty="0" err="1"/>
              <a:t>mentah</a:t>
            </a:r>
            <a:r>
              <a:rPr u="sng" dirty="0"/>
              <a:t> </a:t>
            </a:r>
            <a:r>
              <a:rPr u="sng" dirty="0" err="1"/>
              <a:t>menjadi</a:t>
            </a:r>
            <a:r>
              <a:rPr u="sng" dirty="0"/>
              <a:t> </a:t>
            </a:r>
            <a:r>
              <a:rPr u="sng" dirty="0" err="1"/>
              <a:t>rekomendasi</a:t>
            </a:r>
            <a:r>
              <a:rPr u="sng" dirty="0"/>
              <a:t> actionable</a:t>
            </a:r>
            <a:r>
              <a:rPr lang="en-ID" u="sng" dirty="0"/>
              <a:t>, </a:t>
            </a:r>
            <a:r>
              <a:rPr u="sng" dirty="0" err="1"/>
              <a:t>bukan</a:t>
            </a:r>
            <a:r>
              <a:rPr u="sng" dirty="0"/>
              <a:t> </a:t>
            </a:r>
            <a:r>
              <a:rPr u="sng" dirty="0" err="1"/>
              <a:t>hanya</a:t>
            </a:r>
            <a:r>
              <a:rPr u="sng" dirty="0"/>
              <a:t> </a:t>
            </a:r>
            <a:r>
              <a:rPr u="sng" dirty="0" err="1"/>
              <a:t>prediksi</a:t>
            </a:r>
            <a:r>
              <a:rPr u="sng" dirty="0"/>
              <a:t>, </a:t>
            </a:r>
            <a:r>
              <a:rPr u="sng" dirty="0" err="1"/>
              <a:t>tapi</a:t>
            </a:r>
            <a:r>
              <a:rPr u="sng" dirty="0"/>
              <a:t> advisory </a:t>
            </a:r>
            <a:r>
              <a:rPr u="sng" dirty="0" err="1"/>
              <a:t>lengkap</a:t>
            </a:r>
            <a:endParaRPr u="sng" dirty="0"/>
          </a:p>
        </p:txBody>
      </p:sp>
      <p:pic>
        <p:nvPicPr>
          <p:cNvPr id="4" name="Picture 6" descr="Picture">
            <a:extLst>
              <a:ext uri="{FF2B5EF4-FFF2-40B4-BE49-F238E27FC236}">
                <a16:creationId xmlns:a16="http://schemas.microsoft.com/office/drawing/2014/main" id="{41F434D2-FEC8-B076-05EA-54B3EEB0D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867" y="218122"/>
            <a:ext cx="1571626" cy="110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23A1B870-D9F4-202B-932B-8072DD43E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643" y="365760"/>
            <a:ext cx="809625" cy="80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305485AE-78F6-D2DD-2A31-59C8160DCE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>
            <a:alphaModFix amt="20000"/>
          </a:blip>
          <a:srcRect l="12603" t="24686" r="64487" b="27720"/>
          <a:stretch>
            <a:fillRect/>
          </a:stretch>
        </p:blipFill>
        <p:spPr>
          <a:xfrm>
            <a:off x="4909474" y="2011680"/>
            <a:ext cx="2373051" cy="268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700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C83F9-7B0C-26ED-EDD5-21CC97CCC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4057"/>
                </a:solidFill>
              </a:defRPr>
            </a:pPr>
            <a:r>
              <a:t>Target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73E8"/>
                </a:solidFill>
              </a:defRPr>
            </a:pPr>
            <a:r>
              <a:t>TAM (Total Addressable Market)</a:t>
            </a:r>
          </a:p>
          <a:p>
            <a:pPr>
              <a:spcBef>
                <a:spcPts val="600"/>
              </a:spcBef>
              <a:defRPr sz="2000" b="0">
                <a:solidFill>
                  <a:srgbClr val="333333"/>
                </a:solidFill>
              </a:defRPr>
            </a:pPr>
            <a:r>
              <a:t>5.9 juta siswa SMA/SMK | Rp154 miliar/tahun</a:t>
            </a:r>
          </a:p>
          <a:p>
            <a:pPr>
              <a:spcBef>
                <a:spcPts val="1400"/>
              </a:spcBef>
              <a:defRPr sz="800" b="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2000" b="1">
                <a:solidFill>
                  <a:srgbClr val="1A73E8"/>
                </a:solidFill>
              </a:defRPr>
            </a:pPr>
            <a:r>
              <a:t>SAM (Serviceable Addressable Market)</a:t>
            </a:r>
          </a:p>
          <a:p>
            <a:pPr>
              <a:spcBef>
                <a:spcPts val="600"/>
              </a:spcBef>
              <a:defRPr sz="2000" b="0">
                <a:solidFill>
                  <a:srgbClr val="333333"/>
                </a:solidFill>
              </a:defRPr>
            </a:pPr>
            <a:r>
              <a:t>800K pendaftar SNBP | Rp57-65 miliar/tahun</a:t>
            </a:r>
          </a:p>
          <a:p>
            <a:pPr>
              <a:spcBef>
                <a:spcPts val="1400"/>
              </a:spcBef>
              <a:defRPr sz="800" b="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2000" b="1">
                <a:solidFill>
                  <a:srgbClr val="1A73E8"/>
                </a:solidFill>
              </a:defRPr>
            </a:pPr>
            <a:r>
              <a:t>SOM (Serviceable Obtainable Market)</a:t>
            </a:r>
          </a:p>
          <a:p>
            <a:pPr>
              <a:spcBef>
                <a:spcPts val="600"/>
              </a:spcBef>
              <a:defRPr sz="2000" b="0">
                <a:solidFill>
                  <a:srgbClr val="333333"/>
                </a:solidFill>
              </a:defRPr>
            </a:pPr>
            <a:r>
              <a:t>Year 1: 50K siswa + 200 sekolah = Rp1.6 miliar</a:t>
            </a:r>
          </a:p>
          <a:p>
            <a:pPr>
              <a:spcBef>
                <a:spcPts val="600"/>
              </a:spcBef>
              <a:defRPr sz="2000" b="0">
                <a:solidFill>
                  <a:srgbClr val="333333"/>
                </a:solidFill>
              </a:defRPr>
            </a:pPr>
            <a:r>
              <a:t>Year 3: 200K siswa + 2000 sekolah = Rp10 miliar</a:t>
            </a:r>
          </a:p>
        </p:txBody>
      </p:sp>
      <p:pic>
        <p:nvPicPr>
          <p:cNvPr id="4" name="Picture 6" descr="Picture">
            <a:extLst>
              <a:ext uri="{FF2B5EF4-FFF2-40B4-BE49-F238E27FC236}">
                <a16:creationId xmlns:a16="http://schemas.microsoft.com/office/drawing/2014/main" id="{4C5DB9E0-F3FB-FA26-ED9D-A3453CB7E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867" y="218122"/>
            <a:ext cx="1571626" cy="110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154BC3B-D07E-6AB4-5F61-6EE65F80F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643" y="365760"/>
            <a:ext cx="809625" cy="80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DCBB5D6A-DFE1-B393-FD08-512FE48FECF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>
            <a:alphaModFix amt="20000"/>
          </a:blip>
          <a:srcRect l="12603" t="24686" r="64487" b="27720"/>
          <a:stretch>
            <a:fillRect/>
          </a:stretch>
        </p:blipFill>
        <p:spPr>
          <a:xfrm>
            <a:off x="4909474" y="2011680"/>
            <a:ext cx="2373051" cy="268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541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240B3-8CD9-987C-2452-A587F034B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4057"/>
                </a:solidFill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73E8"/>
                </a:solidFill>
              </a:defRPr>
            </a:pPr>
            <a:r>
              <a:t>B2C Freemium</a:t>
            </a:r>
          </a:p>
          <a:p>
            <a:pPr>
              <a:spcBef>
                <a:spcPts val="1000"/>
              </a:spcBef>
              <a:defRPr sz="1800" b="0">
                <a:solidFill>
                  <a:srgbClr val="333333"/>
                </a:solidFill>
              </a:defRPr>
            </a:pPr>
            <a:r>
              <a:t>Free: Basic SNBP eligibility check</a:t>
            </a:r>
          </a:p>
          <a:p>
            <a:pPr>
              <a:spcBef>
                <a:spcPts val="800"/>
              </a:spcBef>
              <a:defRPr sz="1800" b="0">
                <a:solidFill>
                  <a:srgbClr val="333333"/>
                </a:solidFill>
              </a:defRPr>
            </a:pPr>
            <a:r>
              <a:t>Premium: Rp15-25K/prediksi</a:t>
            </a:r>
          </a:p>
          <a:p>
            <a:pPr>
              <a:spcBef>
                <a:spcPts val="400"/>
              </a:spcBef>
              <a:defRPr sz="1600" b="0">
                <a:solidFill>
                  <a:srgbClr val="333333"/>
                </a:solidFill>
              </a:defRPr>
            </a:pPr>
            <a:r>
              <a:t>  - Deep prediction + alternatives</a:t>
            </a:r>
          </a:p>
          <a:p>
            <a:pPr>
              <a:spcBef>
                <a:spcPts val="400"/>
              </a:spcBef>
              <a:defRPr sz="1600" b="0">
                <a:solidFill>
                  <a:srgbClr val="333333"/>
                </a:solidFill>
              </a:defRPr>
            </a:pPr>
            <a:r>
              <a:t>  - What-If counterfactual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73E8"/>
                </a:solidFill>
              </a:defRPr>
            </a:pPr>
            <a:r>
              <a:t>B2B SaaS - BK Command Center</a:t>
            </a:r>
          </a:p>
          <a:p>
            <a:pPr>
              <a:spcBef>
                <a:spcPts val="1000"/>
              </a:spcBef>
              <a:defRPr sz="1800" b="0">
                <a:solidFill>
                  <a:srgbClr val="333333"/>
                </a:solidFill>
              </a:defRPr>
            </a:pPr>
            <a:r>
              <a:t>Basic: Rp2 juta/tahun (200 siswa)</a:t>
            </a:r>
          </a:p>
          <a:p>
            <a:pPr>
              <a:spcBef>
                <a:spcPts val="800"/>
              </a:spcBef>
              <a:defRPr sz="1800" b="0">
                <a:solidFill>
                  <a:srgbClr val="333333"/>
                </a:solidFill>
              </a:defRPr>
            </a:pPr>
            <a:r>
              <a:t>Pro: Rp3.5 juta/tahun (unlimited + analytics)</a:t>
            </a:r>
          </a:p>
          <a:p>
            <a:pPr>
              <a:spcBef>
                <a:spcPts val="800"/>
              </a:spcBef>
              <a:defRPr sz="1800" b="0">
                <a:solidFill>
                  <a:srgbClr val="333333"/>
                </a:solidFill>
              </a:defRPr>
            </a:pPr>
            <a:r>
              <a:t>Enterprise: Rp5 juta/tahun (API + dedicated)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4057"/>
                </a:solidFill>
              </a:defRPr>
            </a:pPr>
            <a:r>
              <a:rPr u="sng" dirty="0"/>
              <a:t>Unit Economics: LTV:CAC ratio 8-12x | Gross Margin &gt;85%</a:t>
            </a:r>
          </a:p>
        </p:txBody>
      </p:sp>
      <p:pic>
        <p:nvPicPr>
          <p:cNvPr id="6" name="Picture 6" descr="Picture">
            <a:extLst>
              <a:ext uri="{FF2B5EF4-FFF2-40B4-BE49-F238E27FC236}">
                <a16:creationId xmlns:a16="http://schemas.microsoft.com/office/drawing/2014/main" id="{534D0580-5FE2-F24D-3679-1163C957C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867" y="218122"/>
            <a:ext cx="1571626" cy="110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C264ABAA-8998-F862-BC55-468A8415C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643" y="365760"/>
            <a:ext cx="809625" cy="80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21F4A618-F373-7E47-A4F0-C436E714737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>
            <a:alphaModFix amt="20000"/>
          </a:blip>
          <a:srcRect l="12603" t="24686" r="64487" b="27720"/>
          <a:stretch>
            <a:fillRect/>
          </a:stretch>
        </p:blipFill>
        <p:spPr>
          <a:xfrm>
            <a:off x="4909474" y="2011680"/>
            <a:ext cx="2373051" cy="268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07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7611B-83B7-CB82-0D0D-87D58A9D4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4057"/>
                </a:solidFill>
              </a:defRPr>
            </a:pPr>
            <a:r>
              <a:rPr dirty="0" err="1"/>
              <a:t>Kompetitor</a:t>
            </a:r>
            <a:r>
              <a:rPr dirty="0"/>
              <a:t> &amp;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LangkahKampus vs Ruangguru vs Aku Pintar vs Portal SNBP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1" y="2103120"/>
            <a:ext cx="9446028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73E8"/>
                </a:solidFill>
              </a:defRPr>
            </a:pPr>
            <a:r>
              <a:rPr dirty="0"/>
              <a:t>Fitur Unik </a:t>
            </a:r>
            <a:r>
              <a:rPr dirty="0" err="1"/>
              <a:t>LangkahKampus</a:t>
            </a:r>
            <a:r>
              <a:rPr dirty="0"/>
              <a:t> (yang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dimiliki</a:t>
            </a:r>
            <a:r>
              <a:rPr dirty="0"/>
              <a:t> </a:t>
            </a:r>
            <a:r>
              <a:rPr dirty="0" err="1"/>
              <a:t>kompetitor</a:t>
            </a:r>
            <a:r>
              <a:rPr dirty="0"/>
              <a:t>):</a:t>
            </a:r>
          </a:p>
          <a:p>
            <a:pPr>
              <a:spcBef>
                <a:spcPts val="1200"/>
              </a:spcBef>
              <a:defRPr sz="1900" b="0">
                <a:solidFill>
                  <a:srgbClr val="333333"/>
                </a:solidFill>
              </a:defRPr>
            </a:pPr>
            <a:r>
              <a:rPr dirty="0"/>
              <a:t>Anti-</a:t>
            </a:r>
            <a:r>
              <a:rPr dirty="0" err="1"/>
              <a:t>Bentrok</a:t>
            </a:r>
            <a:r>
              <a:rPr dirty="0"/>
              <a:t> Dashboard - ONLY US (de-confliction intra-</a:t>
            </a:r>
            <a:r>
              <a:rPr dirty="0" err="1"/>
              <a:t>sekolah</a:t>
            </a:r>
            <a:r>
              <a:rPr dirty="0"/>
              <a:t>)</a:t>
            </a:r>
          </a:p>
          <a:p>
            <a:pPr>
              <a:spcBef>
                <a:spcPts val="1200"/>
              </a:spcBef>
              <a:defRPr sz="1900" b="0">
                <a:solidFill>
                  <a:srgbClr val="333333"/>
                </a:solidFill>
              </a:defRPr>
            </a:pPr>
            <a:r>
              <a:rPr dirty="0"/>
              <a:t>Counterfactual AI (What-If Engine) - ONLY US</a:t>
            </a:r>
          </a:p>
          <a:p>
            <a:pPr>
              <a:spcBef>
                <a:spcPts val="1200"/>
              </a:spcBef>
              <a:defRPr sz="1900" b="0">
                <a:solidFill>
                  <a:srgbClr val="333333"/>
                </a:solidFill>
              </a:defRPr>
            </a:pPr>
            <a:r>
              <a:rPr dirty="0"/>
              <a:t>Choice-2 Trap Detection - ONLY US</a:t>
            </a:r>
          </a:p>
          <a:p>
            <a:pPr>
              <a:spcBef>
                <a:spcPts val="1200"/>
              </a:spcBef>
              <a:defRPr sz="1900" b="0">
                <a:solidFill>
                  <a:srgbClr val="333333"/>
                </a:solidFill>
              </a:defRPr>
            </a:pPr>
            <a:r>
              <a:rPr dirty="0"/>
              <a:t>SNBP-focused advisory: Rp15-25K vs </a:t>
            </a:r>
            <a:r>
              <a:rPr dirty="0" err="1"/>
              <a:t>kompetitor</a:t>
            </a:r>
            <a:r>
              <a:rPr dirty="0"/>
              <a:t> Rp100K+/</a:t>
            </a:r>
            <a:r>
              <a:rPr dirty="0" err="1"/>
              <a:t>bulan</a:t>
            </a:r>
            <a:endParaRPr dirty="0"/>
          </a:p>
          <a:p>
            <a:pPr>
              <a:spcBef>
                <a:spcPts val="1600"/>
              </a:spcBef>
              <a:defRPr sz="800" b="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800"/>
              </a:spcBef>
              <a:defRPr sz="1800" b="1">
                <a:solidFill>
                  <a:srgbClr val="2E4057"/>
                </a:solidFill>
              </a:defRPr>
            </a:pPr>
            <a:r>
              <a:rPr dirty="0"/>
              <a:t>Positioning: </a:t>
            </a:r>
            <a:r>
              <a:rPr u="sng" dirty="0"/>
              <a:t>Advisory System (</a:t>
            </a:r>
            <a:r>
              <a:rPr u="sng" dirty="0" err="1"/>
              <a:t>bukan</a:t>
            </a:r>
            <a:r>
              <a:rPr u="sng" dirty="0"/>
              <a:t> </a:t>
            </a:r>
            <a:r>
              <a:rPr u="sng" dirty="0" err="1"/>
              <a:t>sekadar</a:t>
            </a:r>
            <a:r>
              <a:rPr u="sng" dirty="0"/>
              <a:t> data portal </a:t>
            </a:r>
            <a:r>
              <a:rPr u="sng" dirty="0" err="1"/>
              <a:t>atau</a:t>
            </a:r>
            <a:r>
              <a:rPr u="sng" dirty="0"/>
              <a:t> </a:t>
            </a:r>
            <a:r>
              <a:rPr u="sng" dirty="0" err="1"/>
              <a:t>bimbel</a:t>
            </a:r>
            <a:r>
              <a:rPr u="sng" dirty="0"/>
              <a:t> online)</a:t>
            </a:r>
          </a:p>
        </p:txBody>
      </p:sp>
      <p:pic>
        <p:nvPicPr>
          <p:cNvPr id="5" name="Picture 6" descr="Picture">
            <a:extLst>
              <a:ext uri="{FF2B5EF4-FFF2-40B4-BE49-F238E27FC236}">
                <a16:creationId xmlns:a16="http://schemas.microsoft.com/office/drawing/2014/main" id="{8C4D8918-9192-9A74-B1EA-C05F90A20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867" y="218122"/>
            <a:ext cx="1571626" cy="110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5FE31A-087D-C2A7-6D66-6D1EBF1CE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643" y="365760"/>
            <a:ext cx="809625" cy="80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D9D39938-D39E-42A4-A5B8-5A123044DC66}"/>
              </a:ext>
            </a:extLst>
          </p:cNvPr>
          <p:cNvPicPr/>
          <p:nvPr/>
        </p:nvPicPr>
        <p:blipFill>
          <a:blip r:embed="rId4">
            <a:alphaModFix amt="20000"/>
          </a:blip>
          <a:srcRect l="12603" t="24686" r="64487" b="27720"/>
          <a:stretch>
            <a:fillRect/>
          </a:stretch>
        </p:blipFill>
        <p:spPr>
          <a:xfrm>
            <a:off x="4909474" y="2011680"/>
            <a:ext cx="2373051" cy="268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746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24FBE-B85E-C184-4416-2FA261939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4057"/>
                </a:solidFill>
              </a:defRPr>
            </a:pPr>
            <a:r>
              <a:t>Teknologi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833956" cy="354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73E8"/>
                </a:solidFill>
              </a:defRPr>
            </a:pPr>
            <a:r>
              <a:rPr dirty="0"/>
              <a:t>Tech Stack: Next.js | Node.js | </a:t>
            </a:r>
            <a:r>
              <a:rPr dirty="0" err="1"/>
              <a:t>FastAPI</a:t>
            </a:r>
            <a:r>
              <a:rPr dirty="0"/>
              <a:t> | PostgreSQL | Redis</a:t>
            </a:r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rPr dirty="0"/>
              <a:t>ML: </a:t>
            </a:r>
            <a:r>
              <a:rPr dirty="0" err="1"/>
              <a:t>XGBoost</a:t>
            </a:r>
            <a:r>
              <a:rPr dirty="0"/>
              <a:t> + </a:t>
            </a:r>
            <a:r>
              <a:rPr dirty="0" err="1"/>
              <a:t>LightGBM</a:t>
            </a:r>
            <a:r>
              <a:rPr dirty="0"/>
              <a:t> ensemble (AUC 0.91, &lt;5ms inference)</a:t>
            </a:r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rPr dirty="0"/>
              <a:t>XAI: SHAP + LIME + </a:t>
            </a:r>
            <a:r>
              <a:rPr dirty="0" err="1"/>
              <a:t>DiCE</a:t>
            </a:r>
            <a:r>
              <a:rPr dirty="0"/>
              <a:t> for explainable recommendations</a:t>
            </a:r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rPr dirty="0"/>
              <a:t>Infra: Docker + Kubernetes + GitHub Actions CI/CD</a:t>
            </a:r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rPr dirty="0"/>
              <a:t>Data: 47 engineered features, weekly refresh pipeline</a:t>
            </a:r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rPr dirty="0"/>
              <a:t>Security: JWT auth, rate limiting, data encryption at rest</a:t>
            </a:r>
          </a:p>
          <a:p>
            <a:pPr>
              <a:spcBef>
                <a:spcPts val="1600"/>
              </a:spcBef>
              <a:defRPr sz="800" b="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800"/>
              </a:spcBef>
              <a:defRPr sz="1800" b="1">
                <a:solidFill>
                  <a:srgbClr val="2E4057"/>
                </a:solidFill>
              </a:defRPr>
            </a:pPr>
            <a:r>
              <a:rPr dirty="0"/>
              <a:t>Flow: </a:t>
            </a:r>
            <a:r>
              <a:rPr u="sng" dirty="0"/>
              <a:t>User Input -&gt; API Gateway -&gt; ML Service -&gt; XAI Explanation -&gt; Personalized Advisory</a:t>
            </a:r>
          </a:p>
        </p:txBody>
      </p:sp>
      <p:pic>
        <p:nvPicPr>
          <p:cNvPr id="4" name="Picture 6" descr="Picture">
            <a:extLst>
              <a:ext uri="{FF2B5EF4-FFF2-40B4-BE49-F238E27FC236}">
                <a16:creationId xmlns:a16="http://schemas.microsoft.com/office/drawing/2014/main" id="{CB6B46B9-E847-C76F-98EF-175354E70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867" y="218122"/>
            <a:ext cx="1571626" cy="110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92244AF8-CD97-72D6-2DCC-BFAFB059E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643" y="365760"/>
            <a:ext cx="809625" cy="80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74E98D46-F563-E588-DD8E-ABF7D4322D2C}"/>
              </a:ext>
            </a:extLst>
          </p:cNvPr>
          <p:cNvPicPr/>
          <p:nvPr/>
        </p:nvPicPr>
        <p:blipFill>
          <a:blip r:embed="rId4">
            <a:alphaModFix amt="20000"/>
          </a:blip>
          <a:srcRect l="12603" t="24686" r="64487" b="27720"/>
          <a:stretch>
            <a:fillRect/>
          </a:stretch>
        </p:blipFill>
        <p:spPr>
          <a:xfrm>
            <a:off x="4909474" y="2011680"/>
            <a:ext cx="2373051" cy="268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280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7C272-552F-8ACC-F914-EB7415D7A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8503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4057"/>
                </a:solidFill>
              </a:defRPr>
            </a:pPr>
            <a:r>
              <a:t>Keunggulan Kompetitif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930938" cy="3334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73E8"/>
                </a:solidFill>
              </a:defRPr>
            </a:pPr>
            <a:r>
              <a:rPr dirty="0"/>
              <a:t>4 </a:t>
            </a:r>
            <a:r>
              <a:rPr dirty="0" err="1"/>
              <a:t>Keunggulan</a:t>
            </a:r>
            <a:r>
              <a:rPr dirty="0"/>
              <a:t> Utama:</a:t>
            </a:r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rPr dirty="0"/>
              <a:t>1. First-mover: Anti-</a:t>
            </a:r>
            <a:r>
              <a:rPr dirty="0" err="1"/>
              <a:t>Bentrok</a:t>
            </a:r>
            <a:r>
              <a:rPr dirty="0"/>
              <a:t> (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ada</a:t>
            </a:r>
            <a:r>
              <a:rPr dirty="0"/>
              <a:t> </a:t>
            </a:r>
            <a:r>
              <a:rPr dirty="0" err="1"/>
              <a:t>kompetitor</a:t>
            </a:r>
            <a:r>
              <a:rPr dirty="0"/>
              <a:t> yang </a:t>
            </a:r>
            <a:r>
              <a:rPr dirty="0" err="1"/>
              <a:t>memiliki</a:t>
            </a:r>
            <a:r>
              <a:rPr dirty="0"/>
              <a:t> </a:t>
            </a:r>
            <a:r>
              <a:rPr dirty="0" err="1"/>
              <a:t>fitur</a:t>
            </a:r>
            <a:r>
              <a:rPr dirty="0"/>
              <a:t> </a:t>
            </a:r>
            <a:r>
              <a:rPr dirty="0" err="1"/>
              <a:t>ini</a:t>
            </a:r>
            <a:r>
              <a:rPr dirty="0"/>
              <a:t>)</a:t>
            </a:r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rPr dirty="0"/>
              <a:t>2. Data Moat: Proprietary historical data yang </a:t>
            </a:r>
            <a:r>
              <a:rPr dirty="0" err="1"/>
              <a:t>terus</a:t>
            </a:r>
            <a:r>
              <a:rPr dirty="0"/>
              <a:t> </a:t>
            </a:r>
            <a:r>
              <a:rPr dirty="0" err="1"/>
              <a:t>bertambah</a:t>
            </a:r>
            <a:r>
              <a:rPr dirty="0"/>
              <a:t> </a:t>
            </a:r>
            <a:r>
              <a:rPr dirty="0" err="1"/>
              <a:t>setiap</a:t>
            </a:r>
            <a:r>
              <a:rPr dirty="0"/>
              <a:t> </a:t>
            </a:r>
            <a:r>
              <a:rPr dirty="0" err="1"/>
              <a:t>siklus</a:t>
            </a:r>
            <a:endParaRPr dirty="0"/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rPr dirty="0"/>
              <a:t>3. Network Effect: </a:t>
            </a:r>
            <a:r>
              <a:rPr dirty="0" err="1"/>
              <a:t>Semakin</a:t>
            </a:r>
            <a:r>
              <a:rPr dirty="0"/>
              <a:t> </a:t>
            </a:r>
            <a:r>
              <a:rPr dirty="0" err="1"/>
              <a:t>banyak</a:t>
            </a:r>
            <a:r>
              <a:rPr dirty="0"/>
              <a:t> user per </a:t>
            </a:r>
            <a:r>
              <a:rPr dirty="0" err="1"/>
              <a:t>sekolah</a:t>
            </a:r>
            <a:r>
              <a:rPr dirty="0"/>
              <a:t> = </a:t>
            </a:r>
            <a:r>
              <a:rPr dirty="0" err="1"/>
              <a:t>prediksi</a:t>
            </a:r>
            <a:r>
              <a:rPr dirty="0"/>
              <a:t> </a:t>
            </a:r>
            <a:r>
              <a:rPr dirty="0" err="1"/>
              <a:t>semakin</a:t>
            </a:r>
            <a:r>
              <a:rPr dirty="0"/>
              <a:t> </a:t>
            </a:r>
            <a:r>
              <a:rPr dirty="0" err="1"/>
              <a:t>akurat</a:t>
            </a:r>
            <a:endParaRPr dirty="0"/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rPr dirty="0"/>
              <a:t>4. Advisory vs Raw Data: </a:t>
            </a:r>
            <a:r>
              <a:rPr dirty="0" err="1"/>
              <a:t>Melengkapi</a:t>
            </a:r>
            <a:r>
              <a:rPr dirty="0"/>
              <a:t> (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bersaing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) portal </a:t>
            </a:r>
            <a:r>
              <a:rPr dirty="0" err="1"/>
              <a:t>pemerintah</a:t>
            </a:r>
            <a:endParaRPr dirty="0"/>
          </a:p>
          <a:p>
            <a:pPr>
              <a:spcBef>
                <a:spcPts val="1600"/>
              </a:spcBef>
              <a:defRPr sz="800" b="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800"/>
              </a:spcBef>
              <a:defRPr sz="1800" b="1">
                <a:solidFill>
                  <a:srgbClr val="2E4057"/>
                </a:solidFill>
              </a:defRPr>
            </a:pPr>
            <a:r>
              <a:rPr dirty="0"/>
              <a:t>Defensive Position: Platform </a:t>
            </a:r>
            <a:r>
              <a:rPr dirty="0" err="1"/>
              <a:t>pemerintah</a:t>
            </a:r>
            <a:r>
              <a:rPr dirty="0"/>
              <a:t> </a:t>
            </a:r>
            <a:r>
              <a:rPr dirty="0" err="1"/>
              <a:t>menyediakan</a:t>
            </a:r>
            <a:r>
              <a:rPr dirty="0"/>
              <a:t> data </a:t>
            </a:r>
            <a:r>
              <a:rPr dirty="0" err="1"/>
              <a:t>mentah</a:t>
            </a:r>
            <a:r>
              <a:rPr dirty="0"/>
              <a:t> - kami </a:t>
            </a:r>
            <a:r>
              <a:rPr dirty="0" err="1"/>
              <a:t>menyediakan</a:t>
            </a:r>
            <a:r>
              <a:rPr dirty="0"/>
              <a:t> intelligence dan </a:t>
            </a:r>
            <a:r>
              <a:rPr dirty="0" err="1"/>
              <a:t>rekomendasi</a:t>
            </a:r>
            <a:r>
              <a:rPr dirty="0"/>
              <a:t> actionable yang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bisa</a:t>
            </a:r>
            <a:r>
              <a:rPr dirty="0"/>
              <a:t> </a:t>
            </a:r>
            <a:r>
              <a:rPr dirty="0" err="1"/>
              <a:t>dilakukan</a:t>
            </a:r>
            <a:r>
              <a:rPr dirty="0"/>
              <a:t> portal statis</a:t>
            </a:r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13A1A8A2-83D6-4F61-EFDF-871F3D7A2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643" y="365760"/>
            <a:ext cx="809625" cy="80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">
            <a:extLst>
              <a:ext uri="{FF2B5EF4-FFF2-40B4-BE49-F238E27FC236}">
                <a16:creationId xmlns:a16="http://schemas.microsoft.com/office/drawing/2014/main" id="{E2A1DCCF-B58D-3B25-F182-3D143C84A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867" y="218122"/>
            <a:ext cx="1571626" cy="110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0E6EF00E-6073-35FC-7291-8DD269EDD1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>
            <a:alphaModFix amt="20000"/>
          </a:blip>
          <a:srcRect l="12603" t="24686" r="64487" b="27720"/>
          <a:stretch>
            <a:fillRect/>
          </a:stretch>
        </p:blipFill>
        <p:spPr>
          <a:xfrm>
            <a:off x="4909474" y="2011680"/>
            <a:ext cx="2373051" cy="268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383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A9810-B914-CE50-47DA-8402DBE22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E4057"/>
                </a:solidFill>
              </a:defRPr>
            </a:pPr>
            <a:r>
              <a:t>Terima Kasih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414463"/>
            <a:ext cx="96012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i="1">
                <a:solidFill>
                  <a:srgbClr val="2E4057"/>
                </a:solidFill>
              </a:defRPr>
            </a:pPr>
            <a:r>
              <a:rPr lang="en-ID" sz="2200" i="1" dirty="0" err="1"/>
              <a:t>Saatnya</a:t>
            </a:r>
            <a:r>
              <a:rPr lang="en-ID" sz="2200" i="1" dirty="0"/>
              <a:t> </a:t>
            </a:r>
            <a:r>
              <a:rPr lang="en-ID" sz="2200" i="1" dirty="0" err="1"/>
              <a:t>setiap</a:t>
            </a:r>
            <a:r>
              <a:rPr lang="en-ID" sz="2200" i="1" dirty="0"/>
              <a:t> </a:t>
            </a:r>
            <a:r>
              <a:rPr lang="en-ID" sz="2200" i="1" dirty="0" err="1"/>
              <a:t>siswa</a:t>
            </a:r>
            <a:r>
              <a:rPr lang="en-ID" sz="2200" i="1" dirty="0"/>
              <a:t> di Indonesia, </a:t>
            </a:r>
            <a:r>
              <a:rPr lang="en-ID" sz="2200" i="1" dirty="0" err="1"/>
              <a:t>dari</a:t>
            </a:r>
            <a:r>
              <a:rPr lang="en-ID" sz="2200" i="1" dirty="0"/>
              <a:t> mana pun </a:t>
            </a:r>
            <a:r>
              <a:rPr lang="en-ID" sz="2200" i="1" dirty="0" err="1"/>
              <a:t>mereka</a:t>
            </a:r>
            <a:r>
              <a:rPr lang="en-ID" sz="2200" i="1" dirty="0"/>
              <a:t> </a:t>
            </a:r>
            <a:r>
              <a:rPr lang="en-ID" sz="2200" i="1" dirty="0" err="1"/>
              <a:t>berasal</a:t>
            </a:r>
            <a:r>
              <a:rPr lang="en-ID" sz="2200" i="1" dirty="0"/>
              <a:t>, punya </a:t>
            </a:r>
            <a:r>
              <a:rPr lang="en-ID" sz="2200" i="1" dirty="0" err="1"/>
              <a:t>kesempatan</a:t>
            </a:r>
            <a:r>
              <a:rPr lang="en-ID" sz="2200" i="1" dirty="0"/>
              <a:t> yang </a:t>
            </a:r>
            <a:r>
              <a:rPr lang="en-ID" sz="2200" i="1" dirty="0" err="1"/>
              <a:t>sama</a:t>
            </a:r>
            <a:r>
              <a:rPr lang="en-ID" sz="2200" i="1" dirty="0"/>
              <a:t> </a:t>
            </a:r>
            <a:r>
              <a:rPr lang="en-ID" sz="2200" i="1" dirty="0" err="1"/>
              <a:t>untuk</a:t>
            </a:r>
            <a:r>
              <a:rPr lang="en-ID" sz="2200" i="1" dirty="0"/>
              <a:t> </a:t>
            </a:r>
            <a:r>
              <a:rPr lang="en-ID" sz="2200" i="1" dirty="0" err="1"/>
              <a:t>melangkah</a:t>
            </a:r>
            <a:r>
              <a:rPr lang="en-ID" sz="2200" i="1" dirty="0"/>
              <a:t> </a:t>
            </a:r>
            <a:r>
              <a:rPr lang="en-ID" sz="2200" i="1" dirty="0" err="1"/>
              <a:t>ke</a:t>
            </a:r>
            <a:r>
              <a:rPr lang="en-ID" sz="2200" i="1" dirty="0"/>
              <a:t> </a:t>
            </a:r>
            <a:r>
              <a:rPr lang="en-ID" sz="2200" i="1" dirty="0" err="1"/>
              <a:t>perguruan</a:t>
            </a:r>
            <a:r>
              <a:rPr lang="en-ID" sz="2200" i="1" dirty="0"/>
              <a:t> </a:t>
            </a:r>
            <a:r>
              <a:rPr lang="en-ID" sz="2200" i="1" dirty="0" err="1"/>
              <a:t>tinggi</a:t>
            </a:r>
            <a:r>
              <a:rPr lang="en-ID" sz="2200" i="1" dirty="0"/>
              <a:t> </a:t>
            </a:r>
            <a:r>
              <a:rPr lang="en-ID" sz="2200" i="1" dirty="0" err="1"/>
              <a:t>secara</a:t>
            </a:r>
            <a:r>
              <a:rPr lang="en-ID" sz="2200" i="1" dirty="0"/>
              <a:t> </a:t>
            </a:r>
            <a:r>
              <a:rPr lang="en-ID" sz="2200" i="1" dirty="0" err="1"/>
              <a:t>cerdas</a:t>
            </a:r>
            <a:r>
              <a:rPr lang="en-ID" sz="2200" i="1" dirty="0"/>
              <a:t> dan </a:t>
            </a:r>
            <a:r>
              <a:rPr lang="en-ID" sz="2200" i="1" dirty="0" err="1"/>
              <a:t>percaya</a:t>
            </a:r>
            <a:r>
              <a:rPr lang="en-ID" sz="2200" i="1" dirty="0"/>
              <a:t> </a:t>
            </a:r>
            <a:r>
              <a:rPr lang="en-ID" sz="2200" i="1" dirty="0" err="1"/>
              <a:t>diri</a:t>
            </a:r>
            <a:r>
              <a:rPr lang="en-ID" sz="2200" i="1" dirty="0"/>
              <a:t>.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9601200" cy="71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</a:defRPr>
            </a:pPr>
            <a:r>
              <a:rPr lang="en-US" dirty="0"/>
              <a:t>Dev </a:t>
            </a:r>
            <a:r>
              <a:rPr dirty="0" err="1"/>
              <a:t>LangkahKampus</a:t>
            </a:r>
            <a:r>
              <a:rPr lang="en-US" dirty="0"/>
              <a:t> – Aflah Zaki Siregar</a:t>
            </a:r>
            <a:r>
              <a:rPr dirty="0"/>
              <a:t> | Telkom University | </a:t>
            </a:r>
            <a:r>
              <a:rPr lang="en-US" dirty="0"/>
              <a:t>Jakarta</a:t>
            </a:r>
            <a:endParaRPr dirty="0"/>
          </a:p>
          <a:p>
            <a:pPr algn="ctr">
              <a:spcBef>
                <a:spcPts val="800"/>
              </a:spcBef>
              <a:defRPr sz="1600" b="0">
                <a:solidFill>
                  <a:srgbClr val="777777"/>
                </a:solidFill>
              </a:defRPr>
            </a:pPr>
            <a:r>
              <a:rPr dirty="0"/>
              <a:t>Email: </a:t>
            </a:r>
            <a:r>
              <a:rPr lang="en-US" dirty="0"/>
              <a:t>aflahzakisiregarr@gmail.com</a:t>
            </a:r>
            <a:r>
              <a:rPr dirty="0"/>
              <a:t> |</a:t>
            </a:r>
            <a:r>
              <a:rPr lang="en-US" dirty="0"/>
              <a:t> Email Student: aflahzaki@student.telkomuniversity.ac.id</a:t>
            </a:r>
            <a:endParaRPr dirty="0"/>
          </a:p>
        </p:txBody>
      </p:sp>
      <p:pic>
        <p:nvPicPr>
          <p:cNvPr id="6" name="Picture 6" descr="Picture">
            <a:extLst>
              <a:ext uri="{FF2B5EF4-FFF2-40B4-BE49-F238E27FC236}">
                <a16:creationId xmlns:a16="http://schemas.microsoft.com/office/drawing/2014/main" id="{2310059D-EF33-8927-A410-2AFBD1DA8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867" y="218122"/>
            <a:ext cx="1571626" cy="110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BA67FBFF-7DAD-161B-E443-FAF085059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643" y="365760"/>
            <a:ext cx="809625" cy="80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5EC50308-19F4-B02E-108C-1E5F1E795AC3}"/>
              </a:ext>
            </a:extLst>
          </p:cNvPr>
          <p:cNvPicPr/>
          <p:nvPr/>
        </p:nvPicPr>
        <p:blipFill>
          <a:blip r:embed="rId4">
            <a:alphaModFix/>
          </a:blip>
          <a:srcRect t="21538"/>
          <a:stretch>
            <a:fillRect/>
          </a:stretch>
        </p:blipFill>
        <p:spPr>
          <a:xfrm>
            <a:off x="3344530" y="2576945"/>
            <a:ext cx="5502939" cy="234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87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4057"/>
                </a:solidFill>
              </a:defRPr>
            </a:pPr>
            <a:r>
              <a:rPr dirty="0" err="1"/>
              <a:t>Referensi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4864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73E8"/>
                </a:solidFill>
              </a:defRPr>
            </a:pPr>
            <a:r>
              <a:rPr dirty="0" err="1"/>
              <a:t>Sumber</a:t>
            </a:r>
            <a:r>
              <a:rPr dirty="0"/>
              <a:t> Data &amp; </a:t>
            </a:r>
            <a:r>
              <a:rPr dirty="0" err="1"/>
              <a:t>Statistik</a:t>
            </a:r>
            <a:r>
              <a:rPr dirty="0"/>
              <a:t>:</a:t>
            </a:r>
          </a:p>
          <a:p>
            <a:pPr>
              <a:spcBef>
                <a:spcPts val="800"/>
              </a:spcBef>
              <a:defRPr sz="1400" b="0">
                <a:solidFill>
                  <a:srgbClr val="333333"/>
                </a:solidFill>
              </a:defRPr>
            </a:pPr>
            <a:r>
              <a:rPr dirty="0"/>
              <a:t>[1] SNPMB/LTMPT (2024) - </a:t>
            </a:r>
            <a:r>
              <a:rPr dirty="0" err="1"/>
              <a:t>Statistik</a:t>
            </a:r>
            <a:r>
              <a:rPr dirty="0"/>
              <a:t> SNBP</a:t>
            </a:r>
          </a:p>
          <a:p>
            <a:pPr>
              <a:spcBef>
                <a:spcPts val="800"/>
              </a:spcBef>
              <a:defRPr sz="1400" b="0">
                <a:solidFill>
                  <a:srgbClr val="333333"/>
                </a:solidFill>
              </a:defRPr>
            </a:pPr>
            <a:r>
              <a:rPr dirty="0"/>
              <a:t>[2] BPS (2024) - </a:t>
            </a:r>
            <a:r>
              <a:rPr dirty="0" err="1"/>
              <a:t>Statistik</a:t>
            </a:r>
            <a:r>
              <a:rPr dirty="0"/>
              <a:t> Pendidikan Indonesia</a:t>
            </a:r>
          </a:p>
          <a:p>
            <a:pPr>
              <a:spcBef>
                <a:spcPts val="800"/>
              </a:spcBef>
              <a:defRPr sz="1400" b="0">
                <a:solidFill>
                  <a:srgbClr val="333333"/>
                </a:solidFill>
              </a:defRPr>
            </a:pPr>
            <a:r>
              <a:rPr dirty="0"/>
              <a:t>[3] </a:t>
            </a:r>
            <a:r>
              <a:rPr dirty="0" err="1"/>
              <a:t>Kemendikbudristek</a:t>
            </a:r>
            <a:r>
              <a:rPr dirty="0"/>
              <a:t> (2023) - Data Guru BK</a:t>
            </a:r>
          </a:p>
          <a:p>
            <a:pPr>
              <a:spcBef>
                <a:spcPts val="800"/>
              </a:spcBef>
              <a:defRPr sz="1400" b="0">
                <a:solidFill>
                  <a:srgbClr val="333333"/>
                </a:solidFill>
              </a:defRPr>
            </a:pPr>
            <a:r>
              <a:rPr dirty="0"/>
              <a:t>[4] </a:t>
            </a:r>
            <a:r>
              <a:rPr dirty="0" err="1"/>
              <a:t>DataReportal</a:t>
            </a:r>
            <a:r>
              <a:rPr dirty="0"/>
              <a:t>/We Are Social (2024) - Digital Indonesia</a:t>
            </a:r>
          </a:p>
          <a:p>
            <a:pPr>
              <a:spcBef>
                <a:spcPts val="800"/>
              </a:spcBef>
              <a:defRPr sz="1400" b="0">
                <a:solidFill>
                  <a:srgbClr val="333333"/>
                </a:solidFill>
              </a:defRPr>
            </a:pPr>
            <a:r>
              <a:rPr dirty="0"/>
              <a:t>[10] Google Trends (2024) - Tren '</a:t>
            </a:r>
            <a:r>
              <a:rPr dirty="0" err="1"/>
              <a:t>Prediksi</a:t>
            </a:r>
            <a:r>
              <a:rPr dirty="0"/>
              <a:t> SNBP'</a:t>
            </a:r>
          </a:p>
          <a:p>
            <a:pPr>
              <a:spcBef>
                <a:spcPts val="800"/>
              </a:spcBef>
              <a:defRPr sz="1400" b="0">
                <a:solidFill>
                  <a:srgbClr val="333333"/>
                </a:solidFill>
              </a:defRPr>
            </a:pPr>
            <a:r>
              <a:rPr dirty="0"/>
              <a:t>[12] APJII (2024) - </a:t>
            </a:r>
            <a:r>
              <a:rPr dirty="0" err="1"/>
              <a:t>Penetrasi</a:t>
            </a:r>
            <a:r>
              <a:rPr dirty="0"/>
              <a:t> Internet Indonesia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73E8"/>
                </a:solidFill>
              </a:defRPr>
            </a:pPr>
            <a:r>
              <a:rPr dirty="0" err="1"/>
              <a:t>Publikasi</a:t>
            </a:r>
            <a:r>
              <a:rPr dirty="0"/>
              <a:t> Akademik:</a:t>
            </a:r>
          </a:p>
          <a:p>
            <a:pPr>
              <a:spcBef>
                <a:spcPts val="800"/>
              </a:spcBef>
              <a:defRPr sz="1400" b="0">
                <a:solidFill>
                  <a:srgbClr val="333333"/>
                </a:solidFill>
              </a:defRPr>
            </a:pPr>
            <a:r>
              <a:rPr dirty="0"/>
              <a:t>[5] Chen &amp; </a:t>
            </a:r>
            <a:r>
              <a:rPr dirty="0" err="1"/>
              <a:t>Guestrin</a:t>
            </a:r>
            <a:r>
              <a:rPr dirty="0"/>
              <a:t> (2016) - </a:t>
            </a:r>
            <a:r>
              <a:rPr dirty="0" err="1"/>
              <a:t>XGBoost</a:t>
            </a:r>
            <a:r>
              <a:rPr dirty="0"/>
              <a:t>, KDD</a:t>
            </a:r>
          </a:p>
          <a:p>
            <a:pPr>
              <a:spcBef>
                <a:spcPts val="800"/>
              </a:spcBef>
              <a:defRPr sz="1400" b="0">
                <a:solidFill>
                  <a:srgbClr val="333333"/>
                </a:solidFill>
              </a:defRPr>
            </a:pPr>
            <a:r>
              <a:rPr dirty="0"/>
              <a:t>[6] Ke et al. (2017) - </a:t>
            </a:r>
            <a:r>
              <a:rPr dirty="0" err="1"/>
              <a:t>LightGBM</a:t>
            </a:r>
            <a:r>
              <a:rPr dirty="0"/>
              <a:t>, </a:t>
            </a:r>
            <a:r>
              <a:rPr dirty="0" err="1"/>
              <a:t>NeurIPS</a:t>
            </a:r>
            <a:endParaRPr dirty="0"/>
          </a:p>
          <a:p>
            <a:pPr>
              <a:spcBef>
                <a:spcPts val="800"/>
              </a:spcBef>
              <a:defRPr sz="1400" b="0">
                <a:solidFill>
                  <a:srgbClr val="333333"/>
                </a:solidFill>
              </a:defRPr>
            </a:pPr>
            <a:r>
              <a:rPr dirty="0"/>
              <a:t>[7] Hollmann et al. (2023) - </a:t>
            </a:r>
            <a:r>
              <a:rPr dirty="0" err="1"/>
              <a:t>TabPFN</a:t>
            </a:r>
            <a:r>
              <a:rPr dirty="0"/>
              <a:t>, ICLR</a:t>
            </a:r>
          </a:p>
          <a:p>
            <a:pPr>
              <a:spcBef>
                <a:spcPts val="800"/>
              </a:spcBef>
              <a:defRPr sz="1400" b="0">
                <a:solidFill>
                  <a:srgbClr val="333333"/>
                </a:solidFill>
              </a:defRPr>
            </a:pPr>
            <a:r>
              <a:rPr dirty="0"/>
              <a:t>[8] </a:t>
            </a:r>
            <a:r>
              <a:rPr dirty="0" err="1"/>
              <a:t>Mothilal</a:t>
            </a:r>
            <a:r>
              <a:rPr dirty="0"/>
              <a:t> et al. (2020) - </a:t>
            </a:r>
            <a:r>
              <a:rPr dirty="0" err="1"/>
              <a:t>DiCE</a:t>
            </a:r>
            <a:r>
              <a:rPr dirty="0"/>
              <a:t>, FAT*</a:t>
            </a:r>
          </a:p>
          <a:p>
            <a:pPr>
              <a:spcBef>
                <a:spcPts val="800"/>
              </a:spcBef>
              <a:defRPr sz="1400" b="0">
                <a:solidFill>
                  <a:srgbClr val="333333"/>
                </a:solidFill>
              </a:defRPr>
            </a:pPr>
            <a:r>
              <a:rPr dirty="0"/>
              <a:t>[9] Lundberg &amp; Lee (2017) - SHAP, </a:t>
            </a:r>
            <a:r>
              <a:rPr dirty="0" err="1"/>
              <a:t>NeurIPS</a:t>
            </a:r>
            <a:endParaRPr dirty="0"/>
          </a:p>
          <a:p>
            <a:pPr>
              <a:spcBef>
                <a:spcPts val="800"/>
              </a:spcBef>
              <a:defRPr sz="1400" b="0">
                <a:solidFill>
                  <a:srgbClr val="333333"/>
                </a:solidFill>
              </a:defRPr>
            </a:pPr>
            <a:r>
              <a:rPr dirty="0"/>
              <a:t>[11] Ribeiro et al. (2016) - LIME, KDD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526929"/>
            <a:ext cx="5770571" cy="3163128"/>
          </a:xfrm>
          <a:prstGeom prst="rect">
            <a:avLst/>
          </a:prstGeom>
        </p:spPr>
      </p:pic>
      <p:pic>
        <p:nvPicPr>
          <p:cNvPr id="6" name="Picture 6" descr="Picture">
            <a:extLst>
              <a:ext uri="{FF2B5EF4-FFF2-40B4-BE49-F238E27FC236}">
                <a16:creationId xmlns:a16="http://schemas.microsoft.com/office/drawing/2014/main" id="{6B749DF9-B766-4E76-6B15-53EAF1D84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867" y="218122"/>
            <a:ext cx="1571626" cy="110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AB1DAC0A-FE2D-94F1-D6FF-0AF552683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643" y="365760"/>
            <a:ext cx="809625" cy="80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32901D6E-3970-0532-276B-08AFDB056B84}"/>
              </a:ext>
            </a:extLst>
          </p:cNvPr>
          <p:cNvPicPr/>
          <p:nvPr/>
        </p:nvPicPr>
        <p:blipFill>
          <a:blip r:embed="rId5">
            <a:alphaModFix amt="20000"/>
          </a:blip>
          <a:srcRect l="12603" t="24686" r="64487" b="27720"/>
          <a:stretch>
            <a:fillRect/>
          </a:stretch>
        </p:blipFill>
        <p:spPr>
          <a:xfrm>
            <a:off x="4909474" y="2011680"/>
            <a:ext cx="2373051" cy="26817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</TotalTime>
  <Words>796</Words>
  <Application>Microsoft Office PowerPoint</Application>
  <PresentationFormat>Widescreen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Aflah Zaki</cp:lastModifiedBy>
  <cp:revision>50</cp:revision>
  <dcterms:created xsi:type="dcterms:W3CDTF">2025-07-11T11:33:22Z</dcterms:created>
  <dcterms:modified xsi:type="dcterms:W3CDTF">2026-06-10T15:55:37Z</dcterms:modified>
</cp:coreProperties>
</file>