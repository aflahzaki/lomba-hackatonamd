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42F01-214A-0214-7C68-A241A4C48BAC}" v="70" dt="2025-07-18T12:59:50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E4057"/>
                </a:solidFill>
              </a:defRPr>
            </a:pPr>
            <a:r>
              <a:t>LangkahKampus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555555"/>
                </a:solidFill>
              </a:defRPr>
            </a:pPr>
            <a:r>
              <a:t>AI-Powered SNBP University Admission Advisory Platform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2560320"/>
            <a:ext cx="2286000" cy="1243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</a:defRPr>
            </a:pPr>
            <a:r>
              <a:t>Tim LangkahKampus | Telkom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7777"/>
                </a:solidFill>
              </a:defRPr>
            </a:pPr>
            <a:r>
              <a:t>Business Idea Competition - Bandung Techno Park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68F6-B2EE-7040-445A-B0793460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Masalah yang Diangkat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800K pendaftar SNBP/tahun, hanya 27% diterima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Choice-2 Trap: Universitas top menolak otomatis siswa yang menempatkan mereka sebagai pilihan kedua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Data Asymmetry: Siswa tidak memiliki akses data historis acceptance rate dan informasi kuota per program studi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Guru BK Overloaded: Rasio 1:300-500 siswa tanpa analytical tools (70%+ tanpa digital tools)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Intra-School Collision: Siswa satu sekolah saling berkompetisi tanpa sadar untuk slot universitas yang sama</a:t>
            </a:r>
          </a:p>
        </p:txBody>
      </p:sp>
    </p:spTree>
    <p:extLst>
      <p:ext uri="{BB962C8B-B14F-4D97-AF65-F5344CB8AC3E}">
        <p14:creationId xmlns:p14="http://schemas.microsoft.com/office/powerpoint/2010/main" val="413558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5F51-BE38-A500-7707-AA430020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Solusi: LangkahKampus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5 Pilar Solusi: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1. Hard-Rule Validator: Deteksi otomatis batasan Choice-2 universitas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2. AI Probability Scoring: Ensemble XGBoost + LightGBM (AUC 0.91)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3. What-If Engine: Counterfactual recommendations (DiCE + SHAP)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4. Geospatial Profiling: Filter berdasarkan lokasi dan minat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5. Anti-Bentrok Dashboard: De-confliction real-time untuk Guru BK</a:t>
            </a:r>
          </a:p>
          <a:p>
            <a:pPr>
              <a:spcBef>
                <a:spcPts val="2000"/>
              </a:spcBef>
              <a:defRPr sz="10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1A73E8"/>
                </a:solidFill>
              </a:defRPr>
            </a:pPr>
            <a:r>
              <a:t>Dari data mentah menjadi rekomendasi actionable - bukan hanya prediksi, tapi advisory lengkap</a:t>
            </a:r>
          </a:p>
        </p:txBody>
      </p:sp>
    </p:spTree>
    <p:extLst>
      <p:ext uri="{BB962C8B-B14F-4D97-AF65-F5344CB8AC3E}">
        <p14:creationId xmlns:p14="http://schemas.microsoft.com/office/powerpoint/2010/main" val="41007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83F9-7B0C-26ED-EDD5-21CC97CC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TAM (Total Addressable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5.9 juta siswa SMA/SMK | Rp154 miliar/tahun</a:t>
            </a:r>
          </a:p>
          <a:p>
            <a:pPr>
              <a:spcBef>
                <a:spcPts val="14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1A73E8"/>
                </a:solidFill>
              </a:defRPr>
            </a:pPr>
            <a:r>
              <a:t>SAM (Serviceable Addressable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800K pendaftar SNBP | Rp57-65 miliar/tahun</a:t>
            </a:r>
          </a:p>
          <a:p>
            <a:pPr>
              <a:spcBef>
                <a:spcPts val="14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1A73E8"/>
                </a:solidFill>
              </a:defRPr>
            </a:pPr>
            <a:r>
              <a:t>SOM (Serviceable Obtainable Market)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Year 1: 50K siswa + 200 sekolah = Rp1.6 miliar</a:t>
            </a:r>
          </a:p>
          <a:p>
            <a:pPr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Year 3: 200K siswa + 2000 sekolah = Rp10 miliar</a:t>
            </a:r>
          </a:p>
        </p:txBody>
      </p:sp>
    </p:spTree>
    <p:extLst>
      <p:ext uri="{BB962C8B-B14F-4D97-AF65-F5344CB8AC3E}">
        <p14:creationId xmlns:p14="http://schemas.microsoft.com/office/powerpoint/2010/main" val="30375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40B3-8CD9-987C-2452-A587F034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B2C Freemium</a:t>
            </a:r>
          </a:p>
          <a:p>
            <a:pPr>
              <a:spcBef>
                <a:spcPts val="1000"/>
              </a:spcBef>
              <a:defRPr sz="1800" b="0">
                <a:solidFill>
                  <a:srgbClr val="333333"/>
                </a:solidFill>
              </a:defRPr>
            </a:pPr>
            <a:r>
              <a:t>Free: Basic SNBP eligibility check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Premium: Rp15-25K/prediksi</a:t>
            </a:r>
          </a:p>
          <a:p>
            <a:pPr>
              <a:spcBef>
                <a:spcPts val="400"/>
              </a:spcBef>
              <a:defRPr sz="1600" b="0">
                <a:solidFill>
                  <a:srgbClr val="333333"/>
                </a:solidFill>
              </a:defRPr>
            </a:pPr>
            <a:r>
              <a:t>  - Deep prediction + alternatives</a:t>
            </a:r>
          </a:p>
          <a:p>
            <a:pPr>
              <a:spcBef>
                <a:spcPts val="400"/>
              </a:spcBef>
              <a:defRPr sz="1600" b="0">
                <a:solidFill>
                  <a:srgbClr val="333333"/>
                </a:solidFill>
              </a:defRPr>
            </a:pPr>
            <a:r>
              <a:t>  - What-If counterfactual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B2B SaaS - BK Command Center</a:t>
            </a:r>
          </a:p>
          <a:p>
            <a:pPr>
              <a:spcBef>
                <a:spcPts val="1000"/>
              </a:spcBef>
              <a:defRPr sz="1800" b="0">
                <a:solidFill>
                  <a:srgbClr val="333333"/>
                </a:solidFill>
              </a:defRPr>
            </a:pPr>
            <a:r>
              <a:t>Basic: Rp2 juta/tahun (200 siswa)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Pro: Rp3.5 juta/tahun (unlimited + analytics)</a:t>
            </a:r>
          </a:p>
          <a:p>
            <a:pPr>
              <a:spcBef>
                <a:spcPts val="800"/>
              </a:spcBef>
              <a:defRPr sz="1800" b="0">
                <a:solidFill>
                  <a:srgbClr val="333333"/>
                </a:solidFill>
              </a:defRPr>
            </a:pPr>
            <a:r>
              <a:t>Enterprise: Rp5 juta/tahun (API + dedicated)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4057"/>
                </a:solidFill>
              </a:defRPr>
            </a:pPr>
            <a:r>
              <a:t>Unit Economics: LTV:CAC ratio 8-12x | Gross Margin &gt;85%</a:t>
            </a:r>
          </a:p>
        </p:txBody>
      </p:sp>
    </p:spTree>
    <p:extLst>
      <p:ext uri="{BB962C8B-B14F-4D97-AF65-F5344CB8AC3E}">
        <p14:creationId xmlns:p14="http://schemas.microsoft.com/office/powerpoint/2010/main" val="416790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611B-83B7-CB82-0D0D-87D58A9D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Kompetitor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LangkahKampus vs Ruangguru vs Aku Pintar vs Portal SNBP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Fitur Unik LangkahKampus (yang tidak dimiliki kompetitor):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t>Anti-Bentrok Dashboard - ONLY US (de-confliction intra-sekolah)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t>Counterfactual AI (What-If Engine) - ONLY US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t>Choice-2 Trap Detection - ONLY US</a:t>
            </a:r>
          </a:p>
          <a:p>
            <a:pPr>
              <a:spcBef>
                <a:spcPts val="1200"/>
              </a:spcBef>
              <a:defRPr sz="1900" b="0">
                <a:solidFill>
                  <a:srgbClr val="333333"/>
                </a:solidFill>
              </a:defRPr>
            </a:pPr>
            <a:r>
              <a:t>SNBP-focused advisory: Rp15-25K vs kompetitor Rp100K+/bulan</a:t>
            </a:r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t>Positioning: Advisory System (bukan sekadar data portal atau bimbel online)</a:t>
            </a:r>
          </a:p>
        </p:txBody>
      </p:sp>
    </p:spTree>
    <p:extLst>
      <p:ext uri="{BB962C8B-B14F-4D97-AF65-F5344CB8AC3E}">
        <p14:creationId xmlns:p14="http://schemas.microsoft.com/office/powerpoint/2010/main" val="64374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FBE-B85E-C184-4416-2FA26193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Tech Stack: Next.js | Node.js | FastAPI | PostgreSQL | Redis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ML: XGBoost + LightGBM ensemble (AUC 0.91, &lt;5ms inference)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XAI: SHAP + LIME + DiCE for explainable recommendations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Infra: Docker + Kubernetes + GitHub Actions CI/CD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Data: 47 engineered features, weekly refresh pipeline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Security: JWT auth, rate limiting, data encryption at rest</a:t>
            </a:r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t>Flow: User Input -&gt; API Gateway -&gt; ML Service -&gt; XAI Explanation -&gt; Personalized Advisory</a:t>
            </a:r>
          </a:p>
        </p:txBody>
      </p:sp>
    </p:spTree>
    <p:extLst>
      <p:ext uri="{BB962C8B-B14F-4D97-AF65-F5344CB8AC3E}">
        <p14:creationId xmlns:p14="http://schemas.microsoft.com/office/powerpoint/2010/main" val="386828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C272-552F-8ACC-F914-EB7415D7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Keunggulan Kompetitif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4 Keunggulan Utama: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1. First-mover: Anti-Bentrok (tidak ada kompetitor yang memiliki fitur ini)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2. Data Moat: Proprietary historical data yang terus bertambah setiap siklus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3. Network Effect: Semakin banyak user per sekolah = prediksi semakin akurat</a:t>
            </a:r>
          </a:p>
          <a:p>
            <a:pPr>
              <a:spcBef>
                <a:spcPts val="1400"/>
              </a:spcBef>
              <a:defRPr sz="2000" b="0">
                <a:solidFill>
                  <a:srgbClr val="333333"/>
                </a:solidFill>
              </a:defRPr>
            </a:pPr>
            <a:r>
              <a:t>4. Advisory vs Raw Data: Melengkapi (bukan bersaing dengan) portal pemerintah</a:t>
            </a:r>
          </a:p>
          <a:p>
            <a:pPr>
              <a:spcBef>
                <a:spcPts val="1600"/>
              </a:spcBef>
              <a:defRPr sz="800" b="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2E4057"/>
                </a:solidFill>
              </a:defRPr>
            </a:pPr>
            <a:r>
              <a:t>Defensive Position: Platform pemerintah menyediakan data mentah - kami menyediakan intelligence dan rekomendasi actionable yang tidak bisa dilakukan portal statis</a:t>
            </a:r>
          </a:p>
        </p:txBody>
      </p:sp>
    </p:spTree>
    <p:extLst>
      <p:ext uri="{BB962C8B-B14F-4D97-AF65-F5344CB8AC3E}">
        <p14:creationId xmlns:p14="http://schemas.microsoft.com/office/powerpoint/2010/main" val="277838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9810-B914-CE50-47DA-8402DBE2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4057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E4057"/>
                </a:solidFill>
              </a:defRPr>
            </a:pPr>
            <a:r>
              <a:t>"Demokratisasi akses intelligence penerimaan universitas untuk setiap siswa Indonesia"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3474720"/>
            <a:ext cx="2286000" cy="1243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53035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</a:defRPr>
            </a:pPr>
            <a:r>
              <a:t>Tim LangkahKampus | Telkom University | Bandung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777777"/>
                </a:solidFill>
              </a:defRPr>
            </a:pPr>
            <a:r>
              <a:t>Email: team@langkahkampus.id | Web: www.langkahkampus.id</a:t>
            </a:r>
          </a:p>
        </p:txBody>
      </p:sp>
    </p:spTree>
    <p:extLst>
      <p:ext uri="{BB962C8B-B14F-4D97-AF65-F5344CB8AC3E}">
        <p14:creationId xmlns:p14="http://schemas.microsoft.com/office/powerpoint/2010/main" val="365487202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4057"/>
                </a:solidFill>
              </a:defRPr>
            </a:pPr>
            <a:r>
              <a:t>Referensi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Sumber Data &amp; Statistik: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[1] SNPMB/LTMPT (2024) - Statistik SNBP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[2] BPS (2024) - Statistik Pendidikan Indonesia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[3] Kemendikbudristek (2023) - Data Guru BK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[4] DataReportal/We Are Social (2024) - Digital Indonesia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[10] Google Trends (2024) - Tren 'Prediksi SNBP'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[12] APJII (2024) - Penetrasi Internet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Publikasi Akademik: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[5] Chen &amp; Guestrin (2016) - XGBoost, KDD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[6] Ke et al. (2017) - LightGBM, NeurIPS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[7] Hollmann et al. (2023) - TabPFN, ICLR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[8] Mothilal et al. (2020) - DiCE, FAT*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[9] Lundberg &amp; Lee (2017) - SHAP, NeurIPS</a:t>
            </a:r>
          </a:p>
          <a:p>
            <a:pPr>
              <a:spcBef>
                <a:spcPts val="800"/>
              </a:spcBef>
              <a:defRPr sz="1400" b="0">
                <a:solidFill>
                  <a:srgbClr val="333333"/>
                </a:solidFill>
              </a:defRPr>
            </a:pPr>
            <a:r>
              <a:t>[11] Ribeiro et al. (2016) - LIME, KDD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5029200"/>
            <a:ext cx="411480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Judul Ide Bisnis</vt:lpstr>
      <vt:lpstr>Masalah yang diangkat</vt:lpstr>
      <vt:lpstr>Solusi yang diberikan</vt:lpstr>
      <vt:lpstr>Target Market (TAM, SAM, SOM)</vt:lpstr>
      <vt:lpstr>Business Model</vt:lpstr>
      <vt:lpstr>Kompetitor dan Positioning</vt:lpstr>
      <vt:lpstr>Teknologi yang digunakan</vt:lpstr>
      <vt:lpstr>Analisis Keunggulan dibanding Solusi Eksisting</vt:lpstr>
      <vt:lpstr>Penutup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created xsi:type="dcterms:W3CDTF">2025-07-11T11:33:22Z</dcterms:created>
  <dcterms:modified xsi:type="dcterms:W3CDTF">2026-06-10T13:26:53Z</dcterms:modified>
</cp:coreProperties>
</file>